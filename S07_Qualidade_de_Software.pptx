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12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S07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23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F0FE"/>
                </a:solidFill>
              </a:rPr>
              <a:t>QUALIDADE DE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200400"/>
            <a:ext cx="96012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37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A8B8"/>
                </a:solidFill>
              </a:rPr>
              <a:t>Automação de Testes na Prática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114800"/>
            <a:ext cx="2926080" cy="548640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🌲  Cypress  E2E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114800"/>
            <a:ext cx="3657600" cy="548640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41148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📮  Postman  +  Newman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4114800"/>
            <a:ext cx="3200400" cy="5486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4114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⚡  GitHub  Actions 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8B8"/>
                </a:solidFill>
              </a:rPr>
              <a:t>Material didático — Testes automatizados, API testing e integração contínua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Estrutura do Repositório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3035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📁  S07/</a:t>
            </a:r>
          </a:p>
          <a:p>
            <a:r>
              <a:rPr sz="1200" b="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300" b="0">
                <a:solidFill>
                  <a:srgbClr val="E3B341"/>
                </a:solidFill>
                <a:latin typeface="Courier New"/>
              </a:rPr>
              <a:t>├── 📄  README.md</a:t>
            </a:r>
          </a:p>
          <a:p>
            <a:r>
              <a:rPr sz="1300" b="0">
                <a:solidFill>
                  <a:srgbClr val="A0A8B8"/>
                </a:solidFill>
                <a:latin typeface="Courier New"/>
              </a:rPr>
              <a:t>│</a:t>
            </a:r>
          </a:p>
          <a:p>
            <a:r>
              <a:rPr sz="1400" b="1">
                <a:solidFill>
                  <a:srgbClr val="05A677"/>
                </a:solidFill>
                <a:latin typeface="Courier New"/>
              </a:rPr>
              <a:t>├── 🌲  cypress-project/</a:t>
            </a:r>
          </a:p>
          <a:p>
            <a:r>
              <a:rPr sz="1200" b="0">
                <a:solidFill>
                  <a:srgbClr val="79C0FF"/>
                </a:solidFill>
                <a:latin typeface="Courier New"/>
              </a:rPr>
              <a:t>│   ├── package.json</a:t>
            </a:r>
          </a:p>
          <a:p>
            <a:r>
              <a:rPr sz="1200" b="0">
                <a:solidFill>
                  <a:srgbClr val="79C0FF"/>
                </a:solidFill>
                <a:latin typeface="Courier New"/>
              </a:rPr>
              <a:t>│   ├── cypress.config.js</a:t>
            </a:r>
          </a:p>
          <a:p>
            <a:r>
              <a:rPr sz="1200" b="0">
                <a:solidFill>
                  <a:srgbClr val="79C0FF"/>
                </a:solidFill>
                <a:latin typeface="Courier New"/>
              </a:rPr>
              <a:t>│   ├── cypress.bdd.config.js</a:t>
            </a:r>
          </a:p>
          <a:p>
            <a:r>
              <a:rPr sz="1200" b="0">
                <a:solidFill>
                  <a:srgbClr val="05A677"/>
                </a:solidFill>
                <a:latin typeface="Courier New"/>
              </a:rPr>
              <a:t>│   └── cypress/</a:t>
            </a:r>
          </a:p>
          <a:p>
            <a:r>
              <a:rPr sz="1100" b="0">
                <a:solidFill>
                  <a:srgbClr val="8B949E"/>
                </a:solidFill>
                <a:latin typeface="Courier New"/>
              </a:rPr>
              <a:t>│       ├── pages/          ← Page Objects</a:t>
            </a:r>
          </a:p>
          <a:p>
            <a:r>
              <a:rPr sz="1100" b="0">
                <a:solidFill>
                  <a:srgbClr val="8B949E"/>
                </a:solidFill>
                <a:latin typeface="Courier New"/>
              </a:rPr>
              <a:t>│       ├── sem-bdd/specs/  ← Testes POM</a:t>
            </a:r>
          </a:p>
          <a:p>
            <a:r>
              <a:rPr sz="1100" b="0">
                <a:solidFill>
                  <a:srgbClr val="8B949E"/>
                </a:solidFill>
                <a:latin typeface="Courier New"/>
              </a:rPr>
              <a:t>│       ├── bdd/features/   ← Gherkin</a:t>
            </a:r>
          </a:p>
          <a:p>
            <a:r>
              <a:rPr sz="1100" b="0">
                <a:solidFill>
                  <a:srgbClr val="8B949E"/>
                </a:solidFill>
                <a:latin typeface="Courier New"/>
              </a:rPr>
              <a:t>│       ├── bdd/step_definitions/</a:t>
            </a:r>
          </a:p>
          <a:p>
            <a:r>
              <a:rPr sz="1100" b="0">
                <a:solidFill>
                  <a:srgbClr val="8B949E"/>
                </a:solidFill>
                <a:latin typeface="Courier New"/>
              </a:rPr>
              <a:t>│       ├── support/commands.js</a:t>
            </a:r>
          </a:p>
          <a:p>
            <a:r>
              <a:rPr sz="1100" b="0">
                <a:solidFill>
                  <a:srgbClr val="8B949E"/>
                </a:solidFill>
                <a:latin typeface="Courier New"/>
              </a:rPr>
              <a:t>│       └── fixtures/dados.json</a:t>
            </a:r>
          </a:p>
          <a:p>
            <a:r>
              <a:rPr sz="1300" b="0">
                <a:solidFill>
                  <a:srgbClr val="A0A8B8"/>
                </a:solidFill>
                <a:latin typeface="Courier New"/>
              </a:rPr>
              <a:t>│</a:t>
            </a:r>
          </a:p>
          <a:p>
            <a:r>
              <a:rPr sz="1400" b="1">
                <a:solidFill>
                  <a:srgbClr val="FF6C37"/>
                </a:solidFill>
                <a:latin typeface="Courier New"/>
              </a:rPr>
              <a:t>├── 📮  api-testing/</a:t>
            </a:r>
          </a:p>
          <a:p>
            <a:r>
              <a:rPr sz="1200" b="0">
                <a:solidFill>
                  <a:srgbClr val="79C0FF"/>
                </a:solidFill>
                <a:latin typeface="Courier New"/>
              </a:rPr>
              <a:t>│   ├── package.json</a:t>
            </a:r>
          </a:p>
          <a:p>
            <a:r>
              <a:rPr sz="1200" b="0">
                <a:solidFill>
                  <a:srgbClr val="E3B341"/>
                </a:solidFill>
                <a:latin typeface="Courier New"/>
              </a:rPr>
              <a:t>│   ├── collections/pokeapi.collection.json</a:t>
            </a:r>
          </a:p>
          <a:p>
            <a:r>
              <a:rPr sz="1200" b="0">
                <a:solidFill>
                  <a:srgbClr val="E3B341"/>
                </a:solidFill>
                <a:latin typeface="Courier New"/>
              </a:rPr>
              <a:t>│   └── environments/pokeapi.environment.json</a:t>
            </a:r>
          </a:p>
          <a:p>
            <a:r>
              <a:rPr sz="1300" b="0">
                <a:solidFill>
                  <a:srgbClr val="A0A8B8"/>
                </a:solidFill>
                <a:latin typeface="Courier New"/>
              </a:rPr>
              <a:t>│</a:t>
            </a:r>
          </a:p>
          <a:p>
            <a:r>
              <a:rPr sz="1400" b="1">
                <a:solidFill>
                  <a:srgbClr val="FFD700"/>
                </a:solidFill>
                <a:latin typeface="Courier New"/>
              </a:rPr>
              <a:t>└── ⚡  .github/workflows/ci.yml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822960"/>
            <a:ext cx="5486400" cy="1005840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896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🌲  cypress-project/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Testes E2E — Page Object Model + BDD/Gherkin
Alvo: globalsqa.com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486400" cy="1005840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848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📮  api-testing/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Testes de API — Postman Collection + Newman
Alvo: pokeapi.co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200400"/>
            <a:ext cx="5486400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735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⚡  .github/workflows/ci.yml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Pipeline CI/CD — 3 jobs paralelos
Disparado a cada push para 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389120"/>
            <a:ext cx="5486400" cy="100584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4622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📄  README.md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Documentação raiz — guia de início rápido
para ambos os projetos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Projeto 1 — Cypress E2E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CYPRESS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8B8"/>
                </a:solidFill>
              </a:rPr>
              <a:t>Site testado:  globalsqa.com/demo-site/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9496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486400" cy="5212080"/>
          </a:xfrm>
          <a:prstGeom prst="rect">
            <a:avLst/>
          </a:prstGeom>
          <a:solidFill>
            <a:srgbClr val="0D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Abordagem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A677"/>
                </a:solidFill>
              </a:rPr>
              <a:t>Sem BDD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E"/>
                </a:solidFill>
              </a:rPr>
              <a:t>Page Object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📄  specs/*.spec.js  →  arquivo de teste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729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🏗️  pages/*.js  →  Page Object (seletores + ações)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31335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🔧  support/commands.js  →  comandos reutilizáveis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897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▶️  npm run test:sem-bdd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Abordagem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3B341"/>
                </a:solidFill>
              </a:rPr>
              <a:t>Com BDD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E"/>
                </a:solidFill>
              </a:rPr>
              <a:t>Gherkin + Cucumber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14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📋  features/*.feature  →  cenário Gherkin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729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🔗  step_definitions/*.steps.js  →  implementação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31335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🏗️  pages/*.js  →  mesmo Page Object!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8970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▶️  npm run test:bdd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6080760"/>
            <a:ext cx="3959352" cy="256032"/>
          </a:xfrm>
          <a:prstGeom prst="rect">
            <a:avLst/>
          </a:prstGeom>
          <a:solidFill>
            <a:srgbClr val="0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6080760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</a:rPr>
              <a:t>⬆  Os dois estilos compartilham os mesmos Page Objects  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Page Object Model (POM)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CYPRESS — POM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3200400" cy="20116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868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alertas.spec.js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2161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Importa AlertasPage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5361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describe() / it() / context()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562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beforeEach → acessar()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762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Chama métodos do Page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</a:rPr>
              <a:t>usa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A8B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777240"/>
            <a:ext cx="3840480" cy="2011680"/>
          </a:xfrm>
          <a:prstGeom prst="rect">
            <a:avLst/>
          </a:prstGeom>
          <a:solidFill>
            <a:srgbClr val="05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868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🏗️  AlertasPage.js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2161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get botaoTentar → seletor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5361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acessar() → cy.visit()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8562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clicarAba(i) → .eq(i).click()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1762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verificarResultado() → .should()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554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</a:rPr>
              <a:t>usa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0A8B8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777240"/>
            <a:ext cx="3566160" cy="2011680"/>
          </a:xfrm>
          <a:prstGeom prst="rect">
            <a:avLst/>
          </a:prstGeom>
          <a:solidFill>
            <a:srgbClr val="3A1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868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commands.js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2161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cy.acessarPagina()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153619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cy.acessarIframe()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185623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cy.aceitarConfirmacao()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1762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•  cy.responderPrompt()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017520"/>
            <a:ext cx="11274552" cy="36576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1546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A677"/>
                </a:solidFill>
              </a:rPr>
              <a:t>spec.js  — O teste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20440"/>
            <a:ext cx="5669280" cy="3063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3630168"/>
            <a:ext cx="5394960" cy="2843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3B341"/>
                </a:solidFill>
                <a:latin typeface="Courier New"/>
              </a:rPr>
              <a:t>import AlertasPage from '../../pages/AlertasPage'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describe('Caixas de Alerta', () =&gt; {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beforeEach(() =&gt; {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AlertasPage.acessar()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})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it('deve exibir OK ao aceitar', () =&gt; {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AlertasPage.clicarAba(1)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AlertasPage.clicarTentarEAceitar()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AlertasPage.verificarResultadoConfirmacao('You pressed OK!')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})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1546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A677"/>
                </a:solidFill>
              </a:rPr>
              <a:t>AlertasPage.js  — O Page Object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520440"/>
            <a:ext cx="5669280" cy="3063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630168"/>
            <a:ext cx="5394960" cy="2843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class AlertasPage {</a:t>
            </a:r>
          </a:p>
          <a:p>
            <a:r>
              <a:rPr sz="1100">
                <a:solidFill>
                  <a:srgbClr val="8B949E"/>
                </a:solidFill>
                <a:latin typeface="Courier New"/>
              </a:rPr>
              <a:t>  // Getter — seletor CSS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get botaoTentar() {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return cy.get('.tab-pane.active button')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acessar() {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cy.acessarPagina('/demo-site/alertbox/')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clicarTentarEAceitar() {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  cy.on('window:confirm', () =&gt; true)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this.botaoTentar.click()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}  export default new AlertasPage()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BDD — Behavior Driven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CYPRESS — BDD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291840" cy="13716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📋
.feature
(Gherkin)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914400"/>
            <a:ext cx="3291840" cy="13716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005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🔗
step_definitions
(.steps.js)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914400"/>
            <a:ext cx="3291840" cy="1371600"/>
          </a:xfrm>
          <a:prstGeom prst="rect">
            <a:avLst/>
          </a:prstGeom>
          <a:solidFill>
            <a:srgbClr val="05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005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🏗️
Page Object
(AlertasPage.js)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0A8B8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0A8B8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0A8B8"/>
                </a:solidFill>
              </a:rPr>
              <a:t>linguagem natural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0A8B8"/>
                </a:solidFill>
              </a:rPr>
              <a:t>implementação dos passos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31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0A8B8"/>
                </a:solidFill>
              </a:rPr>
              <a:t>ações no 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1274552" cy="36576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880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alertas.feature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46120"/>
            <a:ext cx="5486400" cy="3337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355848"/>
            <a:ext cx="5212080" cy="3118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  <a:latin typeface="Courier New"/>
              </a:rPr>
              <a:t># language: pt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Funcionalidade: Caixas de Alerta JavaScript</a:t>
            </a:r>
          </a:p>
          <a:p>
            <a:r>
              <a:rPr sz="1100">
                <a:solidFill>
                  <a:srgbClr val="8B949E"/>
                </a:solidFill>
                <a:latin typeface="Courier New"/>
              </a:rPr>
              <a:t>  Como um estudante de QA</a:t>
            </a:r>
          </a:p>
          <a:p>
            <a:r>
              <a:rPr sz="1100">
                <a:solidFill>
                  <a:srgbClr val="8B949E"/>
                </a:solidFill>
                <a:latin typeface="Courier New"/>
              </a:rPr>
              <a:t>  Quero interagir com os alertas</a:t>
            </a:r>
          </a:p>
          <a:p>
            <a:r>
              <a:rPr sz="1100">
                <a:solidFill>
                  <a:srgbClr val="8B949E"/>
                </a:solidFill>
                <a:latin typeface="Courier New"/>
              </a:rPr>
              <a:t>  Para aprender a lidar com diálogos nativos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Contexto: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Dado que acesso a página de Caixas de Alerta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Cenário: Aceitar a confirmação exibe OK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Quando clico na aba de alerta de índice 1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E clico no botão Tentar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E aceito a caixa de confirmação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Então o resultado deve conter "You pressed OK!"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8803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78"/>
                </a:solidFill>
              </a:rPr>
              <a:t>alertas.steps.js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46120"/>
            <a:ext cx="5669280" cy="3337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355848"/>
            <a:ext cx="5394960" cy="3118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3B341"/>
                </a:solidFill>
                <a:latin typeface="Courier New"/>
              </a:rPr>
              <a:t>import { When, Then } from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'@badeball/cypress-cucumber-preprocessor'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import AlertasPage from '../../pages/AlertasPage'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When('clico na aba de alerta de índice {int}',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(indice) =&gt; {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AlertasPage.clicarAba(indice)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})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When('aceito a caixa de confirmação', () =&gt; {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cy.on('window:confirm', () =&gt; true)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})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Then('o resultado deve conter {string}', (msg) =&gt; {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AlertasPage.verificarResultadoConfirmacao(msg)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Como Executar — Cypress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CYPRESS —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3657600" cy="1188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22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41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Clone o repositório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2618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D08A"/>
                </a:solidFill>
              </a:rPr>
              <a:t>git clone &lt;url-do-repositório&gt;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777240"/>
            <a:ext cx="3657600" cy="1188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822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841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Acesse a pasta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2618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D08A"/>
                </a:solidFill>
              </a:rPr>
              <a:t>cd cypress-project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777240"/>
            <a:ext cx="3657600" cy="1188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822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841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Instale as deps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2618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D08A"/>
                </a:solidFill>
              </a:rPr>
              <a:t>npm install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48840"/>
            <a:ext cx="11274552" cy="36576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Comandos disponíveis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2697480"/>
          <a:ext cx="116128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2454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Comando npm</a:t>
                      </a:r>
                    </a:p>
                  </a:txBody>
                  <a:tcPr>
                    <a:solidFill>
                      <a:srgbClr val="05A6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faz</a:t>
                      </a:r>
                    </a:p>
                  </a:txBody>
                  <a:tcPr>
                    <a:solidFill>
                      <a:srgbClr val="05A6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Modo</a:t>
                      </a:r>
                    </a:p>
                  </a:txBody>
                  <a:tcPr>
                    <a:solidFill>
                      <a:srgbClr val="05A67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npm test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Executa todos os testes Cypress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Headless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npm run test:sem-bdd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Apenas testes Page Object Model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Headless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npm run test:bdd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Apenas testes BDD/Gherkin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Headless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npm run cypress:abrir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Abre a interface gráfica do Cypress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Interativo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npm run abrir:sem-bdd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Interface gráfica — somente POM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Interativo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npm run abrir:bdd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Interface gráfica — somente BDD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Interativo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74320" y="58064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8B8"/>
                </a:solidFill>
              </a:rPr>
              <a:t>⚙️  Pré-requisito:  Node.js 20+  (verif. com:  node -v)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Projeto 2 — Testes de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API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640312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Como funciona uma requisição HTTP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194560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</a:rPr>
              <a:t>Newman / Postman
faz a requisição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554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3B341"/>
                </a:solidFill>
              </a:rPr>
              <a:t>GET /pokemon/pikachu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8B8"/>
                </a:solidFill>
              </a:rPr>
              <a:t>──────────────►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188720"/>
            <a:ext cx="2194560" cy="1143000"/>
          </a:xfrm>
          <a:prstGeom prst="rect">
            <a:avLst/>
          </a:prstGeom>
          <a:solidFill>
            <a:srgbClr val="3A1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Servidor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83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</a:rPr>
              <a:t>pokeapi.co
processa o pedido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8B8"/>
                </a:solidFill>
              </a:rPr>
              <a:t>◄──────────────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1554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AD08A"/>
                </a:solidFill>
              </a:rPr>
              <a:t>200 OK  {"name":"pikachu"}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188720"/>
            <a:ext cx="2194560" cy="1143000"/>
          </a:xfrm>
          <a:prstGeom prst="rect">
            <a:avLst/>
          </a:prstGeom>
          <a:solidFill>
            <a:srgbClr val="05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Resposta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783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</a:rPr>
              <a:t>JSON com
dados do Pokémon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017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Conceitos cobertos nos testes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3657600" cy="1115568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520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📡  Status Codes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</a:rPr>
              <a:t>200 OK, 404 Not Found — toda resposta tem um código de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429000"/>
            <a:ext cx="3657600" cy="111556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520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Assertions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</a:rPr>
              <a:t>pm.expect(resposta.name).to.equal('pikachu') — valida os dados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429000"/>
            <a:ext cx="3657600" cy="1115568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520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Variáveis de Env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8862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</a:rPr>
              <a:t>{{baseUrl}} evita repetição de URL em todos os requests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90872"/>
            <a:ext cx="3657600" cy="1115568"/>
          </a:xfrm>
          <a:prstGeom prst="rect">
            <a:avLst/>
          </a:prstGeom>
          <a:solidFill>
            <a:srgbClr val="3A1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782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📄  JSON 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148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</a:rPr>
              <a:t>Resposta estruturada em JSON — validamos campos, tipos e valores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690872"/>
            <a:ext cx="3657600" cy="1115568"/>
          </a:xfrm>
          <a:prstGeom prst="rect">
            <a:avLst/>
          </a:prstGeom>
          <a:solidFill>
            <a:srgbClr val="05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782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📃  Paginação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148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</a:rPr>
              <a:t>?limit=10 — parâmetros de query string para controlar resultados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4690872"/>
            <a:ext cx="3657600" cy="1115568"/>
          </a:xfrm>
          <a:prstGeom prst="rect">
            <a:avLst/>
          </a:prstGeom>
          <a:solidFill>
            <a:srgbClr val="5A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4782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⏱️  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148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</a:rPr>
              <a:t>pm.response.responseTime &lt; 3000 — tempo de resposta aceitável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PokéAPI — O que é testado?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API — TESTES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749808"/>
          <a:ext cx="116128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FF6C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Request</a:t>
                      </a:r>
                    </a:p>
                  </a:txBody>
                  <a:tcPr>
                    <a:solidFill>
                      <a:srgbClr val="FF6C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Pokémon</a:t>
                      </a:r>
                    </a:p>
                  </a:txBody>
                  <a:tcPr>
                    <a:solidFill>
                      <a:srgbClr val="FF6C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Validações</a:t>
                      </a:r>
                    </a:p>
                  </a:txBody>
                  <a:tcPr>
                    <a:solidFill>
                      <a:srgbClr val="FF6C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F6C3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GET /pokemon/pikachu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Pikachu ⚡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status 200, name=='pikachu', id==25, types não vazio, respTime&lt;3s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GET /pokemon/bulbasaur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Bulbasaur 🌿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status 200, id==1, height&gt;0, weight&gt;0, len(types)==2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GET /pokemon/charmander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Charmander 🔥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status 200, abilities não vazio, tipo=='fire'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GET /pokemon/9999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Inexistente 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status 404, NÃO deve ser 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✅ 404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GET /pokemon?limit=10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Listagem 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status 200, count&gt;0, len(results)==10, next existe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069080"/>
            <a:ext cx="11274552" cy="36576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Anatomia de uma assertion (pm.test)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617720"/>
            <a:ext cx="1161288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4727448"/>
            <a:ext cx="11338559" cy="1792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9C0FF"/>
                </a:solidFill>
                <a:latin typeface="Courier New"/>
              </a:rPr>
              <a:t>pm.test('Nome do Pokémon deve ser pikachu',  function () {</a:t>
            </a:r>
          </a:p>
          <a:p>
            <a:r>
              <a:rPr sz="1100">
                <a:solidFill>
                  <a:srgbClr val="8B949E"/>
                </a:solidFill>
                <a:latin typeface="Courier New"/>
              </a:rPr>
              <a:t>  // ① Extrai o corpo da resposta como objeto JavaScript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const resposta = pm.response.json()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8B949E"/>
                </a:solidFill>
                <a:latin typeface="Courier New"/>
              </a:rPr>
              <a:t>  // ② Verifica que o campo 'name' é igual a 'pikachu'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pm.expect(resposta.name).to.equal('pikachu')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8B8"/>
                </a:solidFill>
              </a:rPr>
              <a:t>① nome do teste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8B8"/>
                </a:solidFill>
              </a:rPr>
              <a:t>② extrai o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8B8"/>
                </a:solidFill>
              </a:rPr>
              <a:t>③ assertion (validação)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Postman — Collection &amp;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303520" cy="5806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C37"/>
                </a:solidFill>
              </a:rPr>
              <a:t>📂  pokeapi.collection.json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50292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📁  PokéAPI — Testes de API</a:t>
            </a:r>
          </a:p>
          <a:p>
            <a:r>
              <a:rPr sz="1200" b="1">
                <a:solidFill>
                  <a:srgbClr val="E3B341"/>
                </a:solidFill>
                <a:latin typeface="Courier New"/>
              </a:rPr>
              <a:t>  └── 📁  Pokémon</a:t>
            </a:r>
          </a:p>
          <a:p>
            <a:r>
              <a:rPr sz="1100" b="0">
                <a:solidFill>
                  <a:srgbClr val="E8F0FE"/>
                </a:solidFill>
                <a:latin typeface="Courier New"/>
              </a:rPr>
              <a:t>        ├── 📄  Buscar Pikachu</a:t>
            </a:r>
          </a:p>
          <a:p>
            <a:r>
              <a:rPr sz="1000" b="0">
                <a:solidFill>
                  <a:srgbClr val="8B949E"/>
                </a:solidFill>
                <a:latin typeface="Courier New"/>
              </a:rPr>
              <a:t>        │     └── Scripts → pm.test()</a:t>
            </a:r>
          </a:p>
          <a:p>
            <a:r>
              <a:rPr sz="1100" b="0">
                <a:solidFill>
                  <a:srgbClr val="E8F0FE"/>
                </a:solidFill>
                <a:latin typeface="Courier New"/>
              </a:rPr>
              <a:t>        ├── 📄  Buscar Bulbasaur</a:t>
            </a:r>
          </a:p>
          <a:p>
            <a:r>
              <a:rPr sz="1000" b="0">
                <a:solidFill>
                  <a:srgbClr val="8B949E"/>
                </a:solidFill>
                <a:latin typeface="Courier New"/>
              </a:rPr>
              <a:t>        │     └── Scripts → pm.test()</a:t>
            </a:r>
          </a:p>
          <a:p>
            <a:r>
              <a:rPr sz="1100" b="0">
                <a:solidFill>
                  <a:srgbClr val="E8F0FE"/>
                </a:solidFill>
                <a:latin typeface="Courier New"/>
              </a:rPr>
              <a:t>        ├── 📄  Buscar Charmander</a:t>
            </a:r>
          </a:p>
          <a:p>
            <a:r>
              <a:rPr sz="1000" b="0">
                <a:solidFill>
                  <a:srgbClr val="8B949E"/>
                </a:solidFill>
                <a:latin typeface="Courier New"/>
              </a:rPr>
              <a:t>        │     └── Scripts → pm.test()</a:t>
            </a:r>
          </a:p>
          <a:p>
            <a:r>
              <a:rPr sz="1100" b="0">
                <a:solidFill>
                  <a:srgbClr val="E8F0FE"/>
                </a:solidFill>
                <a:latin typeface="Courier New"/>
              </a:rPr>
              <a:t>        ├── 📄  Pokémon Inexistente</a:t>
            </a:r>
          </a:p>
          <a:p>
            <a:r>
              <a:rPr sz="1000" b="0">
                <a:solidFill>
                  <a:srgbClr val="8B949E"/>
                </a:solidFill>
                <a:latin typeface="Courier New"/>
              </a:rPr>
              <a:t>        │     └── Scripts → pm.test()</a:t>
            </a:r>
          </a:p>
          <a:p>
            <a:r>
              <a:rPr sz="1100" b="0">
                <a:solidFill>
                  <a:srgbClr val="E8F0FE"/>
                </a:solidFill>
                <a:latin typeface="Courier New"/>
              </a:rPr>
              <a:t>        └── 📄  Listar Pokémon</a:t>
            </a:r>
          </a:p>
          <a:p>
            <a:r>
              <a:rPr sz="1000" b="0">
                <a:solidFill>
                  <a:srgbClr val="8B949E"/>
                </a:solidFill>
                <a:latin typeface="Courier New"/>
              </a:rPr>
              <a:t>              └── Scripts → pm.test()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777240"/>
            <a:ext cx="6035040" cy="2377440"/>
          </a:xfrm>
          <a:prstGeom prst="rect">
            <a:avLst/>
          </a:prstGeom>
          <a:solidFill>
            <a:srgbClr val="0D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8686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C37"/>
                </a:solidFill>
              </a:rPr>
              <a:t>🌐  pokeapi.environment.json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261872"/>
            <a:ext cx="603504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371600"/>
            <a:ext cx="5760720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{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"name": "PokéAPI — Ambiente de Testes",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"values": [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{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    "key": "baseUrl",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    "value": "https://pokeapi.co/api/v2"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}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]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337560"/>
            <a:ext cx="6035040" cy="3246120"/>
          </a:xfrm>
          <a:prstGeom prst="rect">
            <a:avLst/>
          </a:prstGeom>
          <a:solidFill>
            <a:srgbClr val="0D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401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C37"/>
                </a:solidFill>
              </a:rPr>
              <a:t>📦  package.json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794760"/>
            <a:ext cx="6035040" cy="26517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904488"/>
            <a:ext cx="5760720" cy="2432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urier New"/>
              </a:rPr>
              <a:t>"scripts": {</a:t>
            </a:r>
          </a:p>
          <a:p>
            <a:r>
              <a:rPr sz="1100">
                <a:solidFill>
                  <a:srgbClr val="79C0FF"/>
                </a:solidFill>
                <a:latin typeface="Courier New"/>
              </a:rPr>
              <a:t>  "test": "newman run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  collections/pokeapi.collection.json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  -e environments/pokeapi.environment.json"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},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"devDependencies": {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"newman": "^6.1.0",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"newman-reporter-htmlextra": "^1.22.11"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Como Executar — API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API —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3657600" cy="1188720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822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41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Acesse a pasta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2618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D08A"/>
                </a:solidFill>
              </a:rPr>
              <a:t>cd api-testing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777240"/>
            <a:ext cx="3657600" cy="1188720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822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841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Instale as deps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2618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D08A"/>
                </a:solidFill>
              </a:rPr>
              <a:t>npm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777240"/>
            <a:ext cx="3657600" cy="1188720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822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841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Execute!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26187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D08A"/>
                </a:solidFill>
              </a:rPr>
              <a:t>npm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48840"/>
            <a:ext cx="11274552" cy="36576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286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Saída do terminal  (npm test)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97480"/>
            <a:ext cx="5486400" cy="3886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807208"/>
            <a:ext cx="5212080" cy="3666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  <a:latin typeface="Courier New"/>
              </a:rPr>
              <a:t>newman run collections/pokeapi.collection.json ...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PokéAPI — Testes de API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→ Pokémon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✓ Buscar Pokémon por nome — Pikachu (312ms)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✓ Buscar Pokémon por nome — Bulbasaur (289ms)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✓ Buscar Pokémon por nome — Charmander (301ms)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✓ Buscar Pokémon inexistente — ID 9999 (198ms)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  ✓ Listar Pokémon — Paginação com 10 resultados (276ms)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A0A8B8"/>
                </a:solidFill>
                <a:latin typeface="Courier New"/>
              </a:rPr>
              <a:t>┌─────────────────────────────────────────────┐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│          5 requests │ 0 failures             │</a:t>
            </a:r>
          </a:p>
          <a:p>
            <a:r>
              <a:rPr sz="1100">
                <a:solidFill>
                  <a:srgbClr val="6AD08A"/>
                </a:solidFill>
                <a:latin typeface="Courier New"/>
              </a:rPr>
              <a:t>│         22 assertions │ 0 failed              │</a:t>
            </a:r>
          </a:p>
          <a:p>
            <a:r>
              <a:rPr sz="1100">
                <a:solidFill>
                  <a:srgbClr val="A0A8B8"/>
                </a:solidFill>
                <a:latin typeface="Courier New"/>
              </a:rPr>
              <a:t>└─────────────────────────────────────────────┘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2860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Relatório HTML  (npm run test:relatorio)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697480"/>
            <a:ext cx="5852160" cy="1280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807208"/>
            <a:ext cx="5577840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B949E"/>
                </a:solidFill>
                <a:latin typeface="Courier New"/>
              </a:rPr>
              <a:t>newman run collections/pokeapi.collection.json</a:t>
            </a:r>
          </a:p>
          <a:p>
            <a:r>
              <a:rPr sz="1100">
                <a:solidFill>
                  <a:srgbClr val="8B949E"/>
                </a:solidFill>
                <a:latin typeface="Courier New"/>
              </a:rPr>
              <a:t>  -e environments/pokeapi.environment.json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--reporters cli,htmlextra</a:t>
            </a:r>
          </a:p>
          <a:p>
            <a:r>
              <a:rPr sz="1100">
                <a:solidFill>
                  <a:srgbClr val="E3B341"/>
                </a:solidFill>
                <a:latin typeface="Courier New"/>
              </a:rPr>
              <a:t>  --reporter-htmlextra-export relatorio.html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069080"/>
            <a:ext cx="585216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C37"/>
                </a:solidFill>
              </a:rPr>
              <a:t>📊  relatorio.html gerado!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17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• Abre no browser — visual e detalhado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9926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• Lista todos os requests e respostas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67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• Mostra assertions ✅ / ❌ por teste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7424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• Exibe tempo de resposta de cada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61173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• Ideal para apresentar resultados ao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CI/CD — GitHub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1612880" cy="822960"/>
          </a:xfrm>
          <a:prstGeom prst="rect">
            <a:avLst/>
          </a:prstGeom>
          <a:solidFill>
            <a:srgbClr val="0D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</a:rPr>
              <a:t>⚡  Disparador:  push para  main  ou  develop  |  Pull Request para  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3566160" cy="4937760"/>
          </a:xfrm>
          <a:prstGeom prst="rect">
            <a:avLst/>
          </a:prstGeom>
          <a:solidFill>
            <a:srgbClr val="02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8013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Cypress
Sem BDD (POM)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963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Checkout do repositório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1272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Configura Node.js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856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cd cypress-project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44398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7141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npm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102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29783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npm run test:sem-bdd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5760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881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Upload screenshots se falhar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691640"/>
            <a:ext cx="3566160" cy="4937760"/>
          </a:xfrm>
          <a:prstGeom prst="rect">
            <a:avLst/>
          </a:prstGeom>
          <a:solidFill>
            <a:srgbClr val="3A1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8013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828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Cypress
BDD (Gherkin)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4963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Checkout do repositório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1272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154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Configura Node.js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7856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8130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cd cypress-project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44398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47141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npm 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102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129783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npm run test:bdd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760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57881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Upload screenshots se falhar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1691640"/>
            <a:ext cx="3566160" cy="4937760"/>
          </a:xfrm>
          <a:prstGeom prst="rect">
            <a:avLst/>
          </a:prstGeom>
          <a:solidFill>
            <a:srgbClr val="7A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18013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1828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Newman
(PokéAPI)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24963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Checkout do repositório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1272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154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Configura Node.js 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37856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38130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cd api-testing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44398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47141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npm ci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5102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5129783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>npm 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760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57881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8B8"/>
                </a:solidFill>
              </a:rPr>
              <a:t>◄─────────────────  3 jobs em paralelo  ─────────────────►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Quadro Comparativo — Cypress vs API Testing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777240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Cypress E2E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API Testing (Newman)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Simula o usuário no browser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Valida respostas HTTP da API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Alvo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globalsqa.com (frontend)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pokeapi.co (API REST)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Linguagem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JavaScript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JavaScript (scripts Postman)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Arquivo base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*.spec.js / *.feature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*.collection.json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Execução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npm test / npm run test:bdd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npm test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CI/CD jobs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2 jobs (sem-bdd + bdd)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 job (testes-api)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Relatório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Screenshots em caso de falha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HTML via htmlextra</a:t>
                      </a:r>
                    </a:p>
                  </a:txBody>
                  <a:tcPr>
                    <a:solidFill>
                      <a:srgbClr val="10224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</a:rPr>
                        <a:t>Conceito-chave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Page Object Model + BDD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Assertions + Status Codes</a:t>
                      </a:r>
                    </a:p>
                  </a:txBody>
                  <a:tcPr>
                    <a:solidFill>
                      <a:srgbClr val="07132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8064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A8B8"/>
                </a:solidFill>
              </a:rPr>
              <a:t>Ambos os projetos são escritos em JavaScript e integrados ao mesmo pipeline de CI/CD.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12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Resumo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20240"/>
            <a:ext cx="9601200" cy="36576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148840"/>
            <a:ext cx="10058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48840"/>
            <a:ext cx="164592" cy="914400"/>
          </a:xfrm>
          <a:prstGeom prst="rect">
            <a:avLst/>
          </a:prstGeom>
          <a:solidFill>
            <a:srgbClr val="05A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128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🌲  cypress-project/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7860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Testes E2E em 2 estilos (POM e BDD) no site GlobalSQA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0058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200400"/>
            <a:ext cx="164592" cy="914400"/>
          </a:xfrm>
          <a:prstGeom prst="rect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2644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📮  api-testing/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3016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5 testes de API com Postman/Newman na PokéAPI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251960"/>
            <a:ext cx="10058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251960"/>
            <a:ext cx="164592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3159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.github/workflows/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81727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Pipeline CI/CD automático com 3 jobs em paralelo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5303520"/>
            <a:ext cx="164592" cy="91440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367527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📄  README.md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73328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Documentação e guia de início rápido para os dois projetos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400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8B8"/>
                </a:solidFill>
              </a:rPr>
              <a:t>S07 — Qualidade de Software  |  QA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